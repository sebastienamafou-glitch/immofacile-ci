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0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PROPOSITION DE PARTENARIAT STRATÉGIQUE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BABIMMO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La PropTech de référence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en Côte d'Ivoire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0F4F2"/>
                </a:solidFill>
              </a:rPr>
              <a:t>Partenariat Paiement &amp; Financement Immobilier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53328" y="457200"/>
            <a:ext cx="2926080" cy="292608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601968" y="1005840"/>
            <a:ext cx="1828800" cy="18288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22008" y="1407968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Sébastien Amafou  •  CEO WebappCi  •  contact@webappci.com  •  2026</a:t>
            </a:r>
            <a:endParaRPr lang="en-US" sz="95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90C25D3-5CAD-A7EA-5F3C-C01D1E2B9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34" y="777240"/>
            <a:ext cx="2245868" cy="224586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5AC8B94-F2DC-2264-13D1-4656B7213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521" y="4756132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LE MARCHÉ IMMOBILIER EN CÔTE D'IVOIRE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5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4F2"/>
                </a:solidFill>
              </a:rPr>
              <a:t>Slide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+7%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Croissance annuelle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du secteur immo CI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41448" y="96012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41448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41448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5M+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41448" y="2240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Habitants à Abidjan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à loger / financer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96012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608576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08576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80%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08576" y="2240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Transactions encore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en cash / informel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5704" y="96012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75704" y="1051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75704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68%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75704" y="2240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Taux de pénétration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545"/>
                </a:solidFill>
              </a:rPr>
              <a:t>mobile money UEMOA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8595360" cy="868680"/>
          </a:xfrm>
          <a:prstGeom prst="rect">
            <a:avLst/>
          </a:prstGeom>
          <a:solidFill>
            <a:srgbClr val="E0F4F2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2545"/>
                </a:solidFill>
              </a:rPr>
              <a:t>💡  Le marché est immense, sous-digitalisé et prêt pour un acteur structurant qui connecte les banques, les agences et les locataires.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4F2"/>
                </a:solidFill>
              </a:rPr>
              <a:t>Babimmo – Proposition Bridge Bank Group  |  Confidentiel</a:t>
            </a:r>
            <a:endParaRPr lang="en-US" sz="8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0043A665-49E1-5ACB-4123-305757A16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89" y="70358"/>
            <a:ext cx="642874" cy="64287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8342E139-A95D-AFE2-AE2F-75A599144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51" y="4813453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QU'EST-CE QUE BABIMMO 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2545"/>
                </a:solidFill>
              </a:rPr>
              <a:t>Babimmo est une plateforme SaaS immobilière multi-agences conçue pour l'Afrique de l'Ouest.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069080" cy="8229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545"/>
                </a:solidFill>
              </a:rPr>
              <a:t>Multi-Agences B2B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075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Chaque agence a son espace, ses agents et son portefeuille de biens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4069080" cy="8229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09160" y="1691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76088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545"/>
                </a:solidFill>
              </a:rPr>
              <a:t>Gestion Locative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76088" y="2075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Baux numériques, états des lieux, signature électronique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4069080" cy="8229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545"/>
                </a:solidFill>
              </a:rPr>
              <a:t>Paiements Mobiles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Wave, Orange Money, MTN MoMo, Moov — conformité BCEAO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651760"/>
            <a:ext cx="4069080" cy="8229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17720" y="265176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0916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76088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545"/>
                </a:solidFill>
              </a:rPr>
              <a:t>KYC &amp; Conformité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76088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Vérification d'identité (CNI, Passeport), plafonds UEMOA Tier 1-3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069080" cy="8229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545"/>
                </a:solidFill>
              </a:rPr>
              <a:t>Incidents &amp; Artisans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3995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Devis, réparations, suivi des interventions sur les biens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611880"/>
            <a:ext cx="4069080" cy="8229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17720" y="361188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709160" y="3611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76088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545"/>
                </a:solidFill>
              </a:rPr>
              <a:t>Investissement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76088" y="3995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Module crowdfunding, contrats investisseurs, wallet escrow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4F2"/>
                </a:solidFill>
              </a:rPr>
              <a:t>Babimmo – Proposition Bridge Bank Group  |  Confidentiel</a:t>
            </a:r>
            <a:endParaRPr lang="en-US" sz="800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F0D2B2B7-CAD2-D2F4-B876-05E9D2B22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89" y="70358"/>
            <a:ext cx="642874" cy="642874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4615B4E4-6656-54CD-864E-F6A811E3C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51" y="4813453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CONFORMITÉ &amp; SÉCURITÉ — UN SOCLE BANCAIRE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D2545"/>
                </a:solidFill>
              </a:rPr>
              <a:t>Babimmo a été architecturé dès le départ pour respecter les exigences réglementaires de la BCEAO et les standards internationaux.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KYC 3 niveaux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Tier 1 (basique) → Tier 2 (ID vérifié) → Tier 3 (full KYC). Gestion automatisée des plafonds UEMOA.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Données chiffrées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8745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Numéros de pièces hashés, tokens signés pour les documents contractuels, hachage des contrats (documentHash).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51460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Audit Trail complet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Toutes les actions critiques (paiements, KYC, fraudes) sont tracées en base avec IP, userAgent et metadata JSON.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251460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Wallet &amp; Escrow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83464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Fonds séquestrés (escrowBalance) pour sécuriser les transactions avant libération. Verrou optimiste anti race-condition.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347472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Signature électronique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7947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Workflow de signatures multi-parties (PENDING → SIGNED_TENANT → SIGNED_OWNER → COMPLETED) avec preuve légale horodatée.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54880" y="3429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347472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Multi-devises UEMOA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79476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Prise en charge Wave, Orange Money, MTN MoMo, Moov Money, Stripe et paiement cash pour une couverture totale.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4F2"/>
                </a:solidFill>
              </a:rPr>
              <a:t>Babimmo – Proposition Bridge Bank Group  |  Confidentiel</a:t>
            </a:r>
            <a:endParaRPr lang="en-US" sz="8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2C35BE1E-297B-09E4-E26C-025F66D51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89" y="70358"/>
            <a:ext cx="642874" cy="64287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57646BD-3B8D-6275-83AD-C8C1515E7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51" y="4813453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NOTRE PROPOSITION À BRIDGE BANK GROUP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43200" cy="384048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1945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8600" y="15727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Bridge Bank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comme passerelle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 paiement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Intégration de l'API Bridge Bank pour les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paiements locatifs sur Babimmo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3044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Les loyers, dépôts et charges transitent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par les comptes Bridge Bank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35753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Volumes mensuels garantis dès l'onboarding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des agences partenaires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41056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Reporting automatique des flux en temps réel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36392" y="868680"/>
            <a:ext cx="2743200" cy="3840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36392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410712" y="1508760"/>
            <a:ext cx="21945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36392" y="15727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Financement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immobilier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via Babimmo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73552" y="2514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Référencement des offres de prêt immobilier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Bridge Bank directement sur la plateforme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73552" y="3044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Tunnel de qualification des locataires/acheteurs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(KYC Tier 3 = dossier bancaire pré-qualifié)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73552" y="35753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Génération de leads financiers qualifiés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transmis à Bridge Bank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73552" y="41056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Co-branding possible sur les offres de crédit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44184" y="868680"/>
            <a:ext cx="2743200" cy="384048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044184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318504" y="1508760"/>
            <a:ext cx="21945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044184" y="15727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Gestion du parc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immobilier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 la banque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81344" y="2514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Digitalisation du parc immobilier de Bridge Bank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(agences, entrepôts, logements de fonction)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81344" y="3044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Gestion des baux, états des lieux numériques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et signatures électroniques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81344" y="35753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Tableau de bord de suivi des incidents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et des travaux en temps réel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81344" y="41056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→  Option de mise en location / vente des biens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disponibles via la marketplace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4F2"/>
                </a:solidFill>
              </a:rPr>
              <a:t>Babimmo – Proposition Bridge Bank Group  |  Confidentiel</a:t>
            </a:r>
            <a:endParaRPr lang="en-US" sz="800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8064BFD7-9746-8FA0-03F9-DD507DBE9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89" y="70358"/>
            <a:ext cx="642874" cy="642874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1629EF3A-0904-4EB0-3AC6-68039ECEE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51" y="4813453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CE QUE GAGNE BRIDGE BANK GROUP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84048" y="960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966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</a:rPr>
              <a:t>Revenus de commissions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% sur chaque transaction de loyer/dépôt traité via Bridge Bank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84048" y="17099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46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</a:rPr>
              <a:t>Croissance de la clientèle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0391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Accès à des milliers de propriétaires, locataires et agences qualifiés KYC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459736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84048" y="245973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4963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</a:rPr>
              <a:t>Leads crédits qualifiés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788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Dossiers pré-qualifiés Tier 3 transmis pour des prêts immobiliers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09544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209544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32095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246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</a:rPr>
              <a:t>Visibilité digitale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53872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Présence co-brandée sur une plateforme PropTech en croissance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84048" y="395935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9959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</a:rPr>
              <a:t>Digitalisation interne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8853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Gestion modernisée de leur propre parc immobilier (option 03)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06440" y="960120"/>
            <a:ext cx="3063240" cy="374904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806440" y="1005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PROJECTIONS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AN 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1810512"/>
            <a:ext cx="2606040" cy="621792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035040" y="18288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50+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40880" y="18562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Agences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onboardées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560320"/>
            <a:ext cx="2606040" cy="621792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035040" y="257860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2 000+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40880" y="26060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/ mois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3310128"/>
            <a:ext cx="2606040" cy="621792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035040" y="332841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500+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040880" y="33558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Leads crédit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qualifiés / an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4059936"/>
            <a:ext cx="2606040" cy="621792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035040" y="407822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40880" y="410565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Axes de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revenu banque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4F2"/>
                </a:solidFill>
              </a:rPr>
              <a:t>Babimmo – Proposition Bridge Bank Group  |  Confidentiel</a:t>
            </a:r>
            <a:endParaRPr lang="en-US" sz="800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3DF0C4C1-6A03-5B91-8055-2C385C62B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89" y="70358"/>
            <a:ext cx="642874" cy="642874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DD5E624F-AE04-D7AB-2585-373FAB22A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51" y="4813453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PROCHAINES ÉTAPES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51560" y="1325880"/>
            <a:ext cx="36576" cy="3200400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07899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005840"/>
            <a:ext cx="59436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417320" y="1042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Réunion d'échange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307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4F2"/>
                </a:solidFill>
              </a:rPr>
              <a:t>Présentation détaillée de la plateforme et discussion des modalités de partenariat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1508760" cy="3657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0" y="1097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Semaine 1–2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176479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1691640"/>
            <a:ext cx="59436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417320" y="1728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Lettre d'intention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4F2"/>
                </a:solidFill>
              </a:rPr>
              <a:t>Signature d'un MOU (Memorandum of Understanding) définissant les axes de collaboration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1783080"/>
            <a:ext cx="1508760" cy="3657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0" y="1783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Semaine 2–3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245059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2377440"/>
            <a:ext cx="59436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417320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Intégration technique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679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4F2"/>
                </a:solidFill>
              </a:rPr>
              <a:t>Connexion de l'API Bridge Bank à la plateforme Babimmo — sprint de 4 semaines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2468880"/>
            <a:ext cx="1508760" cy="3657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Mois 1–2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313639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580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3063240"/>
            <a:ext cx="59436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417320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Pilote co-brandé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17320" y="3364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4F2"/>
                </a:solidFill>
              </a:rPr>
              <a:t>Lancement avec 5 agences pilotes, suivi des KPIs et ajustements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3154680"/>
            <a:ext cx="1508760" cy="3657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31520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Mois 2–3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382219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8580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280160" y="3749040"/>
            <a:ext cx="59436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417320" y="3785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Déploiement national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17320" y="4050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4F2"/>
                </a:solidFill>
              </a:rPr>
              <a:t>Ouverture à toutes les agences du réseau Babimmo sur l'ensemble de la Côte d'Ivoire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3840480"/>
            <a:ext cx="1508760" cy="3657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315200" y="3840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Mois 4+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4F2"/>
                </a:solidFill>
              </a:rPr>
              <a:t>Babimmo – Proposition Bridge Bank Group  |  Confidentiel</a:t>
            </a:r>
            <a:endParaRPr lang="en-US" sz="8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8C5F6DEB-D7F3-37C6-A916-44C3F1D48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89" y="70358"/>
            <a:ext cx="642874" cy="642874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4A4DECBE-4E3E-D018-FFBB-94655EDCD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51" y="4813453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CONSTRUISONS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ENSEMBLE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L'AVENIR DE L'IMMOBILIER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EN CÔTE D'IVOIRE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F4F2"/>
                </a:solidFill>
              </a:rPr>
              <a:t>Nous sommes prêts à vous présenter une démonstration live de la plateforme et à co-construire les conditions du partenariat.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411480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37033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Mel Sébastien </a:t>
            </a:r>
            <a:r>
              <a:rPr lang="en-US" sz="1400" b="1" dirty="0">
                <a:solidFill>
                  <a:srgbClr val="FFFFFF"/>
                </a:solidFill>
              </a:rPr>
              <a:t>Amafou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CEO – WebappCi / Babimmo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E0F4F2"/>
                </a:solidFill>
              </a:rPr>
              <a:t>contact@webappci.com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4F2"/>
                </a:solidFill>
              </a:rPr>
              <a:t>© 2026 WebappCi – Babimmo. Document confidentiel réservé à Bridge Bank Group.</a:t>
            </a:r>
            <a:endParaRPr lang="en-US" sz="8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5D53D91-1312-0E4C-B164-9B880F82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0" y="457200"/>
            <a:ext cx="2570480" cy="257048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3FC42BA3-BC5F-BC66-A3F3-F3081AC69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51" y="4813453"/>
            <a:ext cx="490451" cy="340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852</Words>
  <Application>Microsoft Macintosh PowerPoint</Application>
  <PresentationFormat>Affichage à l'écran (16:9)</PresentationFormat>
  <Paragraphs>174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Babimmo – Partenariat Bridge Bank Group</dc:title>
  <dc:subject>PptxGenJS Presentation</dc:subject>
  <dc:creator>Sébastien Amafou – WebappCi</dc:creator>
  <cp:lastModifiedBy>Microsoft Office User</cp:lastModifiedBy>
  <cp:revision>4</cp:revision>
  <dcterms:created xsi:type="dcterms:W3CDTF">2026-03-31T20:05:21Z</dcterms:created>
  <dcterms:modified xsi:type="dcterms:W3CDTF">2026-03-31T21:18:37Z</dcterms:modified>
</cp:coreProperties>
</file>